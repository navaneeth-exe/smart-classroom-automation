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4114800" cy="365760"/>
          </a:xfrm>
          <a:prstGeom prst="round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EMBEDDED SYSTEMS &amp; IOT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Smart Classroom Automation System</a:t>
            </a:r>
          </a:p>
          <a:p>
            <a:pPr>
              <a:defRPr sz="3200" b="1">
                <a:solidFill>
                  <a:srgbClr val="2563EB"/>
                </a:solidFill>
              </a:defRPr>
            </a:pPr>
            <a:r>
              <a:t>Using STM32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5943600" cy="6400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 i="1">
                <a:solidFill>
                  <a:srgbClr val="1E3A8A"/>
                </a:solidFill>
              </a:defRPr>
            </a:pPr>
            <a:r>
              <a:t>"Smarter Classroom, Better Comfort, Efficient Energy Use"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A proposed closed-loop embedded automation architecture that integrates multi-sensor environmental acquisition with ARM Cortex-M processing to autonomously govern lighting, thermal comfort, and energy preservation in institutional learning spaces.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874519" cy="822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CORE MCU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STM32 (ARM Cortex)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212080"/>
            <a:ext cx="1874519" cy="822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IOT GATEWAY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ESP32 Wi-Fi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5212080"/>
            <a:ext cx="1874519" cy="822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TARGET OUTPUT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Relay &amp; PWM Cooling</a:t>
            </a:r>
          </a:p>
        </p:txBody>
      </p:sp>
      <p:pic>
        <p:nvPicPr>
          <p:cNvPr id="10" name="Picture 9" descr="classroom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731520"/>
            <a:ext cx="4389120" cy="3108960"/>
          </a:xfrm>
          <a:prstGeom prst="rect">
            <a:avLst/>
          </a:prstGeom>
        </p:spPr>
      </p:pic>
      <p:pic>
        <p:nvPicPr>
          <p:cNvPr id="11" name="Picture 10" descr="stm32_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4023360"/>
            <a:ext cx="2148840" cy="2011680"/>
          </a:xfrm>
          <a:prstGeom prst="rect">
            <a:avLst/>
          </a:prstGeom>
        </p:spPr>
      </p:pic>
      <p:pic>
        <p:nvPicPr>
          <p:cNvPr id="12" name="Picture 11" descr="sensors_ki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4023360"/>
            <a:ext cx="214884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PROJECT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Introduction &amp; Context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The Need for Intelligent Energy Management in Academic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0350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Academic classrooms and university lecture halls present dynamic physical environments characterized by erratic student schedules, shifting thermal loads, and variable outdoor daylight availability throughout the academic day.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2563EB"/>
                </a:solidFill>
              </a:rPr>
              <a:t>• Heavy Energy Footprint:</a:t>
            </a:r>
            <a:r>
              <a:rPr sz="1100">
                <a:solidFill>
                  <a:srgbClr val="64748B"/>
                </a:solidFill>
              </a:rPr>
              <a:t> High-bay fluorescent/LED lighting troffers and quad ceiling fan arrays run continuously regardless of whether rooms are populated.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2563EB"/>
                </a:solidFill>
              </a:rPr>
              <a:t>• Static Manual Control Dependence:</a:t>
            </a:r>
            <a:r>
              <a:rPr sz="1100">
                <a:solidFill>
                  <a:srgbClr val="64748B"/>
                </a:solidFill>
              </a:rPr>
              <a:t> Human occupants frequently forget to switch off electrical loads upon dismissal, resulting in zero-occupancy overnight electrical waste.</a:t>
            </a:r>
          </a:p>
          <a:p>
            <a:pPr>
              <a:spcBef>
                <a:spcPts val="1200"/>
              </a:spcBef>
            </a:pPr>
            <a:r>
              <a:rPr b="1" sz="1100">
                <a:solidFill>
                  <a:srgbClr val="2563EB"/>
                </a:solidFill>
              </a:rPr>
              <a:t>• Dynamic Environmental Fluctuation:</a:t>
            </a:r>
            <a:r>
              <a:rPr sz="1100">
                <a:solidFill>
                  <a:srgbClr val="64748B"/>
                </a:solidFill>
              </a:rPr>
              <a:t> Solar daylight streaming through perimeter windows often renders artificial lighting redundant during midday periods.</a:t>
            </a:r>
          </a:p>
        </p:txBody>
      </p:sp>
      <p:pic>
        <p:nvPicPr>
          <p:cNvPr id="8" name="Picture 7" descr="classroom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45920"/>
            <a:ext cx="4389120" cy="2926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0880" y="4709160"/>
            <a:ext cx="4389120" cy="15087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CORE HYPOTHESIS</a:t>
            </a:r>
          </a:p>
          <a:p>
            <a:pPr>
              <a:defRPr sz="1200" b="1">
                <a:solidFill>
                  <a:srgbClr val="1E3A8A"/>
                </a:solidFill>
              </a:defRPr>
            </a:pPr>
            <a:r>
              <a:t>Automated embedded closed-loop regulation achieves up to 30–45% electrical energy savings while simultaneously improving student learning comfort.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CHALLENGES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Quantifying Inefficiencies in Conventional Institutional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Daylight Ignorance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Artificial lights burn at 100% full capacity even when outdoor sunlight provides over 600 lux across student desktops through exterior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Zero-Occupancy Waste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Ceiling fans and lights continue spinning and glowing during empty periods, between lecture slots, and after evening university closures.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290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Fixed-Speed Discomfort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Fans operate on primitive binary or manual rotary step switches that do not adapt dynamically to fluctuating thermal heat loads or humidity spikes.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Absence of Telemetry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Campus facility administrators possess no real-time telemetry regarding room thermal compliance, student presence, or device operational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Cumulative Utility Costs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Across campuses with 50+ lecture halls, manual negligence translates to thousands of kilowatt-hours wasted annually, straining institution budgets.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GOALS &amp;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Clear, Measurable Engineering Deliverables of the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[01] Environmental Sensory Acquisition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Accurately sample ambient temperature, relative humidity, and daylight illuminance via digital &amp; analog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[02] Passive Human Occupancy Detection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Detect human entrance, movement, and physical occupancy vectors without invasive biometric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[03] Dual-Condition Smart Lighting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Automate high-voltage lighting circuits via solid-state relays only when both occupancy and daylight deficit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21208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[04] Proportional PWM Thermal Cooling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Dynamically modulate DC fan velocity across distinct thermal brackets (30%, 60%, 100%) based on ambient heat 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[05] Zero-Waste Inactivity Latch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Automatically de-energize all lighting and cooling circuits after confirmed absence to eliminate overnight parasitic power draw.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54680"/>
            <a:ext cx="52120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[06] Wireless Telemetry &amp; IoT Gateway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Interface STM32 with ESP32 over UART to transmit continuous telemetry packets over Wi-Fi.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[07] Remote Operator Override Capability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Enable facility managers to view live environmental trends and manually force actuators when specialized events require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Proposed System Overview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High-Level Input-Process-Output Automation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1. SENSORY INPUTS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DHT22 Sensor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Digital Single-Bus temperature &amp; humidity sampling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LDR Module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Analog lux illuminance (0–3.3V to 12-bit ADC)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PIR Sensor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Passive infrared pyroelectric motion detection via GPIO EXTI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8A"/>
                </a:solidFill>
              </a:defRPr>
            </a:pPr>
            <a:r>
              <a:t>2. MAIN CONTROLLER</a:t>
            </a:r>
            <a:br/>
            <a:r>
              <a:t>STM32 (ARM Cortex-M)</a:t>
            </a:r>
          </a:p>
          <a:p>
            <a:pPr>
              <a:spcBef>
                <a:spcPts val="1000"/>
              </a:spcBef>
              <a:defRPr sz="1000">
                <a:solidFill>
                  <a:srgbClr val="1E3A8A"/>
                </a:solidFill>
              </a:defRPr>
            </a:pPr>
            <a:r>
              <a:t>✔ Hardware Timer PWM generation (TIM2_CH1)</a:t>
            </a:r>
          </a:p>
          <a:p>
            <a:pPr>
              <a:spcBef>
                <a:spcPts val="1000"/>
              </a:spcBef>
              <a:defRPr sz="1000">
                <a:solidFill>
                  <a:srgbClr val="1E3A8A"/>
                </a:solidFill>
              </a:defRPr>
            </a:pPr>
            <a:r>
              <a:t>✔ Continuous multi-variable decision evaluation</a:t>
            </a:r>
          </a:p>
          <a:p>
            <a:pPr>
              <a:spcBef>
                <a:spcPts val="1000"/>
              </a:spcBef>
              <a:defRPr sz="1000">
                <a:solidFill>
                  <a:srgbClr val="1E3A8A"/>
                </a:solidFill>
              </a:defRPr>
            </a:pPr>
            <a:r>
              <a:t>✔ Inactivity countdown latch state machine</a:t>
            </a:r>
          </a:p>
          <a:p>
            <a:pPr>
              <a:spcBef>
                <a:spcPts val="1000"/>
              </a:spcBef>
              <a:defRPr sz="1000">
                <a:solidFill>
                  <a:srgbClr val="1E3A8A"/>
                </a:solidFill>
              </a:defRPr>
            </a:pPr>
            <a:r>
              <a:t>✔ USART2 packet assembly &amp; telemetry serialization</a:t>
            </a:r>
          </a:p>
          <a:p>
            <a:pPr>
              <a:spcBef>
                <a:spcPts val="1000"/>
              </a:spcBef>
              <a:defRPr sz="1000">
                <a:solidFill>
                  <a:srgbClr val="1E3A8A"/>
                </a:solidFill>
              </a:defRPr>
            </a:pPr>
            <a:r>
              <a:t>✔ Sub-50ms deterministic closed-loop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ACTUATORS &amp; GATEWAY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Opto-Isolated Relay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Galvanic isolated 230V AC classroom lighting troffer control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MOSFET Driver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High-frequency PWM speed regulation for DC ceiling fans</a:t>
            </a:r>
          </a:p>
          <a:p>
            <a:pPr>
              <a:spcBef>
                <a:spcPts val="1200"/>
              </a:spcBef>
              <a:defRPr b="1" sz="1100">
                <a:solidFill>
                  <a:srgbClr val="0F172A"/>
                </a:solidFill>
              </a:defRPr>
            </a:pPr>
            <a:r>
              <a:t>• ESP32 Wi-Fi Gateway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Wi-Fi TCP/HTTP telemetry uplink to campus facility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HARDWARE INTERFACING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Detailed System Architecture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Pin-Level Interfacing and Signal Protocol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SYSTEM INTERFACE PIN MAPPING &amp; PROTOCOL TOPOLOGY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286000"/>
            <a:ext cx="292608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SENSORY TRANSDUCERS</a:t>
            </a:r>
            <a:br/>
          </a:p>
          <a:p>
            <a:pPr>
              <a:spcBef>
                <a:spcPts val="800"/>
              </a:spcBef>
            </a:pPr>
            <a:r>
              <a:rPr b="1">
                <a:solidFill>
                  <a:srgbClr val="FB923C"/>
                </a:solidFill>
              </a:rPr>
              <a:t>DHT22:</a:t>
            </a:r>
            <a:r>
              <a:rPr>
                <a:solidFill>
                  <a:srgbClr val="CBD5E1"/>
                </a:solidFill>
              </a:rPr>
              <a:t> GPIO (Single-Wire Data Bus)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FB923C"/>
                </a:solidFill>
              </a:rPr>
              <a:t>LDR Sensor:</a:t>
            </a:r>
            <a:r>
              <a:rPr>
                <a:solidFill>
                  <a:srgbClr val="CBD5E1"/>
                </a:solidFill>
              </a:rPr>
              <a:t> ADC1_IN0 (0–3.3V Analog)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FB923C"/>
                </a:solidFill>
              </a:rPr>
              <a:t>PIR Motion:</a:t>
            </a:r>
            <a:r>
              <a:rPr>
                <a:solidFill>
                  <a:srgbClr val="CBD5E1"/>
                </a:solidFill>
              </a:rPr>
              <a:t> EXTI_Line0 (Interrupt Trigger)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103120"/>
            <a:ext cx="3017520" cy="3840480"/>
          </a:xfrm>
          <a:prstGeom prst="roundRect">
            <a:avLst/>
          </a:prstGeom>
          <a:solidFill>
            <a:srgbClr val="1E3A8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MASTER MCU CORE</a:t>
            </a:r>
            <a:br/>
            <a:r>
              <a:t>STM32 (ARM Cortex-M)</a:t>
            </a:r>
            <a:br/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ADC 12-bit Analog Conversion</a:t>
            </a:r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TIM2 General Purpose Timer (PWM)</a:t>
            </a:r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EXTI External Interrupt Controller</a:t>
            </a:r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USART2 Asynchronous Serial</a:t>
            </a:r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Brownout Reset &amp; Watchdog Timer</a:t>
            </a:r>
          </a:p>
          <a:p>
            <a:pPr>
              <a:defRPr sz="950">
                <a:solidFill>
                  <a:srgbClr val="BFDBFE"/>
                </a:solidFill>
              </a:defRPr>
            </a:pPr>
            <a:r>
              <a:t>• Sub-50ms Closed-Loop Execution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86000"/>
            <a:ext cx="2926080" cy="3474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1F5F9"/>
                </a:solidFill>
              </a:defRPr>
            </a:pPr>
            <a:r>
              <a:t>ACTUATORS &amp; GATEWAY</a:t>
            </a:r>
            <a:br/>
          </a:p>
          <a:p>
            <a:pPr>
              <a:spcBef>
                <a:spcPts val="800"/>
              </a:spcBef>
            </a:pPr>
            <a:r>
              <a:rPr b="1">
                <a:solidFill>
                  <a:srgbClr val="34D399"/>
                </a:solidFill>
              </a:rPr>
              <a:t>Relay (GPIO Output):</a:t>
            </a:r>
            <a:r>
              <a:rPr>
                <a:solidFill>
                  <a:srgbClr val="CBD5E1"/>
                </a:solidFill>
              </a:rPr>
              <a:t> 230V AC Classroom Lighting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34D399"/>
                </a:solidFill>
              </a:rPr>
              <a:t>MOSFET (TIM2_CH1):</a:t>
            </a:r>
            <a:r>
              <a:rPr>
                <a:solidFill>
                  <a:srgbClr val="CBD5E1"/>
                </a:solidFill>
              </a:rPr>
              <a:t> 12V/24V DC Fan Variable PWM</a:t>
            </a:r>
          </a:p>
          <a:p>
            <a:pPr>
              <a:spcBef>
                <a:spcPts val="800"/>
              </a:spcBef>
            </a:pPr>
            <a:r>
              <a:rPr b="1">
                <a:solidFill>
                  <a:srgbClr val="34D399"/>
                </a:solidFill>
              </a:rPr>
              <a:t>ESP32 (USART2):</a:t>
            </a:r>
            <a:r>
              <a:rPr>
                <a:solidFill>
                  <a:srgbClr val="CBD5E1"/>
                </a:solidFill>
              </a:rPr>
              <a:t> Wi-Fi Telemetry &amp; Web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BILL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Hardware Components Breakdown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Technical Selection, Specifications and Operational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STM32 Microcontroller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32-bit ARM Cortex-M processor delivering deterministic timer interrupts for multi-channel PWM, hardware 12-bit ADC, and USART serialization.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Master Automation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D97706"/>
                </a:solidFill>
              </a:defRPr>
            </a:pPr>
            <a:r>
              <a:t>DHT22 (AM2302)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Capacitive humidity sensor &amp; thermistor. Temperature range: -40 to 80°C (±0.5°C accuracy); Humidity: 0–100% RH (±2% accuracy).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Climate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060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LDR Sensor Module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Cadmium-sulfide photoresistor with voltage divider and LM393 comparator providing continuous analog light lux voltage directly to STM32 ADC.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Lux Harvesting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60604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10B981"/>
                </a:solidFill>
              </a:defRPr>
            </a:pPr>
            <a:r>
              <a:t>PIR Motion Sensor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Pyroelectric sensor with faceted Fresnel lens (HC-SR501) detecting infrared radiation shifts caused by human occupant motion vectors.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Occupancy Latch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79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EF4444"/>
                </a:solidFill>
              </a:defRPr>
            </a:pPr>
            <a:r>
              <a:t>Optocoupled Relay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Electromechanical relay with optocoupler galvanic isolation, allowing 3.3V logic signals to safely switch 230V AC classroom lighting troffers.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High-Voltage Switching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023360"/>
            <a:ext cx="3383279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t>MOSFET Motor Driver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Logic-level N-channel power MOSFET (e.g. IRLZ44N) driven by high-frequency STM32 PWM signals to smoothly regulate DC ceiling fan motor speed.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PWM Speed Regulation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023360"/>
            <a:ext cx="356616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9333EA"/>
                </a:solidFill>
              </a:defRPr>
            </a:pPr>
            <a:r>
              <a:t>ESP32 Wi-Fi &amp; BLE SoC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Dual-core 240MHz wireless microcontroller acting as a dedicated communications bridge: buffers UART packets and publishes telemetry to web dashboards.</a:t>
            </a:r>
          </a:p>
          <a:p>
            <a:pPr>
              <a:spcBef>
                <a:spcPts val="600"/>
              </a:spcBef>
              <a:defRPr sz="850" b="1">
                <a:solidFill>
                  <a:srgbClr val="0F172A"/>
                </a:solidFill>
              </a:defRPr>
            </a:pPr>
            <a:r>
              <a:t>Role: Wireless IoT Gateway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Working Principle &amp; Closed-Loop Cycle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Autonomous Sense-Process-Actuate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STEP 01</a:t>
            </a:r>
            <a:br/>
            <a:r>
              <a:t>Sensory Polling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DHT22 queried every 2 seconds via single-wire bus.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LDR analog output sampled via 12-bit ADC.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PIR pin state latched via external GPIO interrupt.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STEP 02</a:t>
            </a:r>
            <a:br/>
            <a:r>
              <a:t>Threshold Logic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Compare LDR value to daylight threshold (&lt; 40%).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Compare temperature to thermal comfort brackets.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Check occupancy status against timeout register.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0604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STEP 03</a:t>
            </a:r>
            <a:br/>
            <a:r>
              <a:t>Actuator Dispatch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Trigger GPIO high/low to energize/open relay coil.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Adjust PWM duty cycle register (TIM2-&gt;CCR1).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De-energize all loads if inactivity timer expires.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60604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STEP 04</a:t>
            </a:r>
            <a:br/>
            <a:r>
              <a:t>Uplink Telemetry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Assemble structured binary/JSON telemetry frame.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Transmit packet over UART to ESP32 coprocessor.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Publish data to cloud/web monitoring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69280"/>
            <a:ext cx="10698480" cy="5943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Deterministic Cycle Latency: Sub-50 millisecond decision processing loop guarantees immediate human-perceptible response.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LIGHTING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Automatic Lighting Control Logic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Dual-Condition Occupancy &amp; Daylight Harvesting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EMBEDDED DECISION RULE</a:t>
            </a:r>
          </a:p>
          <a:p>
            <a:pPr>
              <a:spcBef>
                <a:spcPts val="1000"/>
              </a:spcBef>
              <a:defRPr sz="1100" b="1">
                <a:solidFill>
                  <a:srgbClr val="1E3A8A"/>
                </a:solidFill>
              </a:defRPr>
            </a:pPr>
            <a:r>
              <a:t>IF (Occupancy == TRUE &amp;&amp; AmbientLight &lt; 40%)</a:t>
            </a:r>
            <a:br/>
            <a:r>
              <a:t>   → RELAY_STATE = ON (Lights Energized)</a:t>
            </a:r>
            <a:br/>
            <a:r>
              <a:t>ELSE</a:t>
            </a:r>
            <a:br/>
            <a:r>
              <a:t>   → RELAY_STATE = OFF (Lights Extinguished)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• Scenario A: Occupied + Dark</a:t>
            </a:r>
            <a:br/>
            <a:r>
              <a:t>  Students inside, cloudy day or evening -&gt; LIGHTS ON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• Scenario B: Occupied + Ample Daylight</a:t>
            </a:r>
            <a:br/>
            <a:r>
              <a:t>  Students inside, bright window sunlight &gt; 40% -&gt; LIGHTS OFF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• Scenario C: Vacant Classroom</a:t>
            </a:r>
            <a:br/>
            <a:r>
              <a:t>  PIR inactive, zero occupants inside -&gt; LIGHTS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LIGHTING DECISION FLOW</a:t>
            </a:r>
            <a:br/>
          </a:p>
          <a:p>
            <a:pPr algn="ctr">
              <a:spcBef>
                <a:spcPts val="600"/>
              </a:spcBef>
              <a:defRPr sz="1100" b="1">
                <a:solidFill>
                  <a:srgbClr val="F1F5F9"/>
                </a:solidFill>
              </a:defRPr>
            </a:pPr>
            <a:r>
              <a:t>1. Sample PIR Motion Interrupt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94A3B8"/>
                </a:solidFill>
              </a:defRPr>
            </a:pPr>
            <a:r>
              <a:t>↓  [Human Motion Confirmed?]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1F5F9"/>
                </a:solidFill>
              </a:defRPr>
            </a:pPr>
            <a:r>
              <a:t>2. Sample LDR Analog Lux Channel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94A3B8"/>
                </a:solidFill>
              </a:defRPr>
            </a:pPr>
            <a:r>
              <a:t>↓  [Is Daylight &lt; 40% Deficit?]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FBBF24"/>
                </a:solidFill>
              </a:defRPr>
            </a:pPr>
            <a:r>
              <a:t>YES: Close Relay Coil (Lights ON)</a:t>
            </a:r>
          </a:p>
          <a:p>
            <a:pPr algn="ctr">
              <a:spcBef>
                <a:spcPts val="600"/>
              </a:spcBef>
              <a:defRPr sz="1100" b="1">
                <a:solidFill>
                  <a:srgbClr val="94A3B8"/>
                </a:solidFill>
              </a:defRPr>
            </a:pPr>
            <a:r>
              <a:t>NO: Open Relay Coil (Lights OFF / Energy Saved)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FAN SPEED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Automatic Fan &amp; Thermal Regulation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Multi-Stage Temperature-to-PWM Modulation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606040" cy="31089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4748B"/>
                </a:solidFill>
              </a:defRPr>
            </a:pPr>
            <a:r>
              <a:t>BRACKET 1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&lt; 25.0°C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Cool Baseline</a:t>
            </a:r>
          </a:p>
          <a:p>
            <a:pPr>
              <a:spcBef>
                <a:spcPts val="1200"/>
              </a:spcBef>
              <a:defRPr sz="1200" b="1">
                <a:solidFill>
                  <a:srgbClr val="64748B"/>
                </a:solidFill>
              </a:defRPr>
            </a:pPr>
            <a:r>
              <a:t>0% PWM (Fan OFF)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31089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BRACKET 2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25.0°C – 29.9°C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Warm Mild Heat</a:t>
            </a:r>
          </a:p>
          <a:p>
            <a:pPr>
              <a:spcBef>
                <a:spcPts val="1200"/>
              </a:spcBef>
              <a:defRPr sz="1200" b="1">
                <a:solidFill>
                  <a:srgbClr val="2563EB"/>
                </a:solidFill>
              </a:defRPr>
            </a:pPr>
            <a:r>
              <a:t>30% PWM (Low Speed)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606040" cy="310896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BRACKET 3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30.0°C – 34.9°C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Moderate Thermal Load</a:t>
            </a:r>
          </a:p>
          <a:p>
            <a:pPr>
              <a:spcBef>
                <a:spcPts val="1200"/>
              </a:spcBef>
              <a:defRPr sz="1200" b="1">
                <a:solidFill>
                  <a:srgbClr val="06B6D4"/>
                </a:solidFill>
              </a:defRPr>
            </a:pPr>
            <a:r>
              <a:t>60% PWM (Medium Speed)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606040" cy="31089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BRACKET 4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≥ 35.0°C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High Heat Load</a:t>
            </a:r>
          </a:p>
          <a:p>
            <a:pPr>
              <a:spcBef>
                <a:spcPts val="1200"/>
              </a:spcBef>
              <a:defRPr sz="1200" b="1">
                <a:solidFill>
                  <a:srgbClr val="EF4444"/>
                </a:solidFill>
              </a:defRPr>
            </a:pPr>
            <a:r>
              <a:t>100% PWM (Maximum)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HARDWARE PWM GENERATION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Configured via STM32 General Purpose Timer (TIM2), clocked at 10 kHz with an 8-bit duty cycle counter (0–255 steps), yielding silent, smooth motor torque control.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937760"/>
            <a:ext cx="521208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VACANCY CUT-OFF SAFETY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Regardless of high room temperature, if PIR reports zero occupancy for longer than the inactivity timeout, the fan automatically cuts power to 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ALGORITHM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Embedded System Software Flowchart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Deterministic Main Loop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[ START / POWER ON ]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94A3B8"/>
                </a:solidFill>
              </a:defRPr>
            </a:pPr>
            <a:r>
              <a:t>↓  Init Clocks, GPIO, ADC, TIM2 PWM, USART2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F1F5F9"/>
                </a:solidFill>
              </a:defRPr>
            </a:pPr>
            <a:r>
              <a:t>↓  Sample Sensors (DHT22 Temp/Hum, LDR ADC, PIR State)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60A5FA"/>
                </a:solidFill>
              </a:defRPr>
            </a:pPr>
            <a:r>
              <a:t>↓  &lt; Is Classroom Occupied? &gt;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34D399"/>
                </a:solidFill>
              </a:defRPr>
            </a:pPr>
            <a:r>
              <a:t>YES: Evaluate Light (Lux &lt; 40%)  |  Evaluate Fan PWM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F87171"/>
                </a:solidFill>
              </a:defRPr>
            </a:pPr>
            <a:r>
              <a:t>NO: Decrement Inactivity Latch -&gt; Cut All Loads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C084FC"/>
                </a:solidFill>
              </a:defRPr>
            </a:pPr>
            <a:r>
              <a:t>↓  Assemble &amp; Transmit Serial Telemetry Packet to ESP32</a:t>
            </a:r>
          </a:p>
          <a:p>
            <a:pPr algn="ctr">
              <a:spcBef>
                <a:spcPts val="400"/>
              </a:spcBef>
              <a:defRPr sz="1050" b="1">
                <a:solidFill>
                  <a:srgbClr val="94A3B8"/>
                </a:solidFill>
              </a:defRPr>
            </a:pPr>
            <a:r>
              <a:t>↓  Deterministic Non-blocking Delay -&gt; Repeat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DETERMINISTIC EMBEDDED CONTROL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No Blocking Delays:</a:t>
            </a:r>
            <a:r>
              <a:rPr sz="1000">
                <a:solidFill>
                  <a:srgbClr val="64748B"/>
                </a:solidFill>
              </a:rPr>
              <a:t> Hardware interrupts and non-blocking timers maintain continuous responsiveness.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Fail-Safe Design:</a:t>
            </a:r>
            <a:r>
              <a:rPr sz="1000">
                <a:solidFill>
                  <a:srgbClr val="64748B"/>
                </a:solidFill>
              </a:rPr>
              <a:t> In the event of sensor timeout or disconnection, actuators default to safe unpowered state.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Hardware Watchdog:</a:t>
            </a:r>
            <a:r>
              <a:rPr sz="1000">
                <a:solidFill>
                  <a:srgbClr val="64748B"/>
                </a:solidFill>
              </a:rPr>
              <a:t> Independent Watchdog (IWDG) automatically reboots system if main loop hangs.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Brownout Protection:</a:t>
            </a:r>
            <a:r>
              <a:rPr sz="1000">
                <a:solidFill>
                  <a:srgbClr val="64748B"/>
                </a:solidFill>
              </a:rPr>
              <a:t> Embedded BOR ensures reliable reset during power fluctuations.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COMMUNICATION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Software Stack &amp; IoT Communication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STM32 Embedded Firmware &amp; ESP32 Network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STM32 EMBEDDED FIRMWARE</a:t>
            </a:r>
            <a:br/>
            <a:r>
              <a:t>Bare-Metal C / STM32CubeIDE / HAL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Hardware Abstraction Layer (HAL):</a:t>
            </a:r>
            <a:r>
              <a:rPr sz="1000">
                <a:solidFill>
                  <a:srgbClr val="64748B"/>
                </a:solidFill>
              </a:rPr>
              <a:t> Clean register abstractions for GPIO, ADC1, TIM2, and USART2 peripherals.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Interrupt Service Routines (ISR):</a:t>
            </a:r>
            <a:r>
              <a:rPr sz="1000">
                <a:solidFill>
                  <a:srgbClr val="64748B"/>
                </a:solidFill>
              </a:rPr>
              <a:t> EXTI pin trigger for immediate PIR motion event capture without CPU polling overhead.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Structured Serial Packet Format:</a:t>
            </a:r>
            <a:r>
              <a:rPr sz="1000">
                <a:solidFill>
                  <a:srgbClr val="64748B"/>
                </a:solidFill>
              </a:rPr>
              <a:t> Serializes telemetry frames: #TEMP:28.5,HUM:55,LUX:32,PIR:1,FAN:60,LIGHT:1$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Deterministic Timing:</a:t>
            </a:r>
            <a:r>
              <a:rPr sz="1000">
                <a:solidFill>
                  <a:srgbClr val="64748B"/>
                </a:solidFill>
              </a:rPr>
              <a:t> Strict loop scheduling with zero memory fragmentation.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333EA"/>
                </a:solidFill>
              </a:defRPr>
            </a:pPr>
            <a:r>
              <a:t>ESP32 WIRELESS GATEWAY</a:t>
            </a:r>
            <a:br/>
            <a:r>
              <a:t>Wi-Fi 802.11 b/g/n / FreeRTOS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Hardware UART Ring Buffer:</a:t>
            </a:r>
            <a:r>
              <a:rPr sz="1000">
                <a:solidFill>
                  <a:srgbClr val="64748B"/>
                </a:solidFill>
              </a:rPr>
              <a:t> Reads STM32 packet stream via UART RX/TX without loading the main STM32 control core.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Campus Wi-Fi Stack:</a:t>
            </a:r>
            <a:r>
              <a:rPr sz="1000">
                <a:solidFill>
                  <a:srgbClr val="64748B"/>
                </a:solidFill>
              </a:rPr>
              <a:t> Establishes connection to institutional Wi-Fi access points using WPA2-Enterprise / WPA2-PSK.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Telemetry Serving:</a:t>
            </a:r>
            <a:r>
              <a:rPr sz="1000">
                <a:solidFill>
                  <a:srgbClr val="64748B"/>
                </a:solidFill>
              </a:rPr>
              <a:t> Hosts asynchronous WebSocket or HTTP REST endpoints for real-time monitoring and manual override commands.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0F172A"/>
                </a:solidFill>
              </a:rPr>
              <a:t>• Decoupled Reliability:</a:t>
            </a:r>
            <a:r>
              <a:rPr sz="1000">
                <a:solidFill>
                  <a:srgbClr val="64748B"/>
                </a:solidFill>
              </a:rPr>
              <a:t> STM32 control continues operating safely even if Wi-Fi disconnects.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SIMULATION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Expected Operation &amp; Test Scenarios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System Response Under Realistic Field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Scenario 01: Classroom Vacant at Morning (7:00 AM)  -&gt;  Lights: OFF | Fan: 0% (Idle Baseline)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PIR reports 0 occupancy, external lux 20%, room temp 22°C.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Scenario 02: Students Enter on Rainy Morning (8:00 AM)  -&gt;  Lights: ON (Auto Relay) | Fan: 0%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PIR triggers active, external lux drops to 15% (insufficient daylight).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Scenario 03: Sunny Afternoon Lecture (1:00 PM)  -&gt;  Lights: OFF (Daylight Harvest) | Fan: 60% PWM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Classroom fully occupied, outdoor solar lux surges to 85%, room temp hits 32°C.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Scenario 04: Summer Heat Wave Peak (3:00 PM)  -&gt;  Lights: Evaluated | Fan: 100% PWM Max Airflow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Classroom occupied, thermal load surges to 37.5°C.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Scenario 05: Class Dismissal / Evening Exit (5:00 PM)  -&gt;  Zero Waste Shutdown: All Actuators OFF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Students exit through doorway; PIR latches clear; inactivity countdown expires.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EVALUATION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Advantages &amp; Future Expansion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Quantifiable Engineering Benefits and Next-Phase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CORE ADVANTAGES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✔ Up to 40% Energy Reduction:</a:t>
            </a:r>
            <a:r>
              <a:rPr sz="1000">
                <a:solidFill>
                  <a:srgbClr val="64748B"/>
                </a:solidFill>
              </a:rPr>
              <a:t> Eliminates human error, parasitic overnight loads, and unnecessary midday artificial lighting troffers.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✔ Autonomous Student Comfort:</a:t>
            </a:r>
            <a:r>
              <a:rPr sz="1000">
                <a:solidFill>
                  <a:srgbClr val="64748B"/>
                </a:solidFill>
              </a:rPr>
              <a:t> Continuous proportional cooling prevents classroom thermal fatigue during intense lectures.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✔ Decoupled Dual-Processor Architecture:</a:t>
            </a:r>
            <a:r>
              <a:rPr sz="1000">
                <a:solidFill>
                  <a:srgbClr val="64748B"/>
                </a:solidFill>
              </a:rPr>
              <a:t> STM32 ensures rock-solid deterministic safety even if Wi-Fi or cloud networks disconnect.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✔ Low Institutional Retrofit Cost:</a:t>
            </a:r>
            <a:r>
              <a:rPr sz="1000">
                <a:solidFill>
                  <a:srgbClr val="64748B"/>
                </a:solidFill>
              </a:rPr>
              <a:t> Compatible with standard legacy 230V fluorescent/LED arrays and common ceiling fan installations.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FUTURE EXPANSION ROADMAP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</a:rPr>
              <a:t>➔ Campus-Wide Mesh Deployment:</a:t>
            </a:r>
            <a:r>
              <a:rPr sz="1000">
                <a:solidFill>
                  <a:srgbClr val="64748B"/>
                </a:solidFill>
              </a:rPr>
              <a:t> Implement ESP-NOW or LoRaWAN mesh networking across hundreds of university lecture halls and labs.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</a:rPr>
              <a:t>➔ Predictive Pre-Cooling with ML:</a:t>
            </a:r>
            <a:r>
              <a:rPr sz="1000">
                <a:solidFill>
                  <a:srgbClr val="64748B"/>
                </a:solidFill>
              </a:rPr>
              <a:t> Integrate academic timetable databases to automatically pre-condition rooms 5 minutes before scheduled classes.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</a:rPr>
              <a:t>➔ Hardware Current Shunt Monitoring:</a:t>
            </a:r>
            <a:r>
              <a:rPr sz="1000">
                <a:solidFill>
                  <a:srgbClr val="64748B"/>
                </a:solidFill>
              </a:rPr>
              <a:t> Integrate INA219 current sensors to log exact real-time kilowatt-hour power consumption curves.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10B981"/>
                </a:solidFill>
              </a:rPr>
              <a:t>➔ Automated Window Blind Actuation:</a:t>
            </a:r>
            <a:r>
              <a:rPr sz="1000">
                <a:solidFill>
                  <a:srgbClr val="64748B"/>
                </a:solidFill>
              </a:rPr>
              <a:t> Modulate motorized motorized blinds based on sun glare angle.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FINAL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Conclusion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Project Summary &amp; Engineering 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Smart Classroom Automation System Using STM32  |  Academic Engineering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85800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The proposed Smart Classroom Automation System Using STM32 delivers an integrated, cost-effective, and highly reliable embedded solution to combat energy waste in institutional academic facilities.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Multi-Sensory Closed-Loop Control:</a:t>
            </a:r>
            <a:r>
              <a:rPr sz="1000">
                <a:solidFill>
                  <a:srgbClr val="64748B"/>
                </a:solidFill>
              </a:rPr>
              <a:t> Combines ambient lux (LDR), passive motion (PIR), and digital temperature/humidity (DHT22) for accurate decisions.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Energy &amp; Comfort Balance:</a:t>
            </a:r>
            <a:r>
              <a:rPr sz="1000">
                <a:solidFill>
                  <a:srgbClr val="64748B"/>
                </a:solidFill>
              </a:rPr>
              <a:t> Eliminates daylight redundancy and empty classroom waste while maintaining adaptive proportional ventilation.</a:t>
            </a:r>
          </a:p>
          <a:p>
            <a:pPr>
              <a:spcBef>
                <a:spcPts val="1000"/>
              </a:spcBef>
            </a:pPr>
            <a:r>
              <a:rPr b="1" sz="1050">
                <a:solidFill>
                  <a:srgbClr val="2563EB"/>
                </a:solidFill>
              </a:rPr>
              <a:t>• Dual-Layer IoT Scalability:</a:t>
            </a:r>
            <a:r>
              <a:rPr sz="1000">
                <a:solidFill>
                  <a:srgbClr val="64748B"/>
                </a:solidFill>
              </a:rPr>
              <a:t> Robust STM32 hardware controller paired with ESP32 Wi-Fi gateway for centralized facility oversight.</a:t>
            </a:r>
          </a:p>
          <a:p>
            <a:pPr>
              <a:spcBef>
                <a:spcPts val="1600"/>
              </a:spcBef>
              <a:defRPr sz="1300" b="1" i="1">
                <a:solidFill>
                  <a:srgbClr val="1E3A8A"/>
                </a:solidFill>
              </a:defRPr>
            </a:pPr>
            <a:r>
              <a:t>"Smarter Classroom, Better Comfort, Efficient Energy Use"</a:t>
            </a:r>
          </a:p>
        </p:txBody>
      </p:sp>
      <p:pic>
        <p:nvPicPr>
          <p:cNvPr id="7" name="Picture 6" descr="stm32_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45920"/>
            <a:ext cx="3566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800" b="1">
                <a:solidFill>
                  <a:srgbClr val="0F172A"/>
                </a:solidFill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2563EB"/>
                </a:solidFill>
              </a:defRPr>
            </a:pPr>
            <a:r>
              <a:t>Questions, Discussions &amp; Evaluator Feedback</a:t>
            </a:r>
          </a:p>
          <a:p>
            <a:pPr algn="ctr">
              <a:spcBef>
                <a:spcPts val="2000"/>
              </a:spcBef>
              <a:defRPr sz="1200">
                <a:solidFill>
                  <a:srgbClr val="64748B"/>
                </a:solidFill>
              </a:defRPr>
            </a:pPr>
            <a:r>
              <a:t>Project: Smart Classroom Automation System Using STM32</a:t>
            </a:r>
            <a:br/>
            <a:r>
              <a:t>Department of Electronics &amp; Communication / Embedded Systems Engineering</a:t>
            </a:r>
          </a:p>
          <a:p>
            <a:pPr algn="ctr">
              <a:spcBef>
                <a:spcPts val="1600"/>
              </a:spcBef>
              <a:defRPr sz="1200" b="1">
                <a:solidFill>
                  <a:srgbClr val="10B981"/>
                </a:solidFill>
              </a:defRPr>
            </a:pPr>
            <a:r>
              <a:t>Interactive 3D Digital Twin Simulation Available for Live Evaluation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